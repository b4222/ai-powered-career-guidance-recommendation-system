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1" r:id="rId14"/>
    <p:sldId id="267" r:id="rId15"/>
    <p:sldId id="272" r:id="rId16"/>
    <p:sldId id="268" r:id="rId17"/>
    <p:sldId id="269" r:id="rId18"/>
    <p:sldId id="273" r:id="rId19"/>
    <p:sldId id="270"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946121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2175316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3842150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4C974-9CC9-4B91-A9BF-C5585E5FECD1}"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205180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4C974-9CC9-4B91-A9BF-C5585E5FECD1}"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1506569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4C974-9CC9-4B91-A9BF-C5585E5FECD1}" type="datetimeFigureOut">
              <a:rPr lang="en-IN" smtClean="0"/>
              <a:t>18-04-2026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404808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4C974-9CC9-4B91-A9BF-C5585E5FECD1}" type="datetimeFigureOut">
              <a:rPr lang="en-IN" smtClean="0"/>
              <a:t>18-04-2026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16891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4C974-9CC9-4B91-A9BF-C5585E5FECD1}"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80425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C41ED3-EDBB-467C-B638-F2E67F3D76CF}" type="slidenum">
              <a:rPr lang="en-IN" smtClean="0"/>
              <a:t>‹#›</a:t>
            </a:fld>
            <a:endParaRPr lang="en-IN"/>
          </a:p>
        </p:txBody>
      </p:sp>
      <p:sp>
        <p:nvSpPr>
          <p:cNvPr id="5" name="Date Placeholder 4"/>
          <p:cNvSpPr>
            <a:spLocks noGrp="1"/>
          </p:cNvSpPr>
          <p:nvPr>
            <p:ph type="dt" sz="half" idx="10"/>
          </p:nvPr>
        </p:nvSpPr>
        <p:spPr/>
        <p:txBody>
          <a:bodyPr/>
          <a:lstStyle/>
          <a:p>
            <a:fld id="{5D14C974-9CC9-4B91-A9BF-C5585E5FECD1}" type="datetimeFigureOut">
              <a:rPr lang="en-IN" smtClean="0"/>
              <a:t>18-04-2026</a:t>
            </a:fld>
            <a:endParaRPr lang="en-IN"/>
          </a:p>
        </p:txBody>
      </p:sp>
    </p:spTree>
    <p:extLst>
      <p:ext uri="{BB962C8B-B14F-4D97-AF65-F5344CB8AC3E}">
        <p14:creationId xmlns:p14="http://schemas.microsoft.com/office/powerpoint/2010/main" val="2751212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1809491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68783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3637435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952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3144117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2635940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C974-9CC9-4B91-A9BF-C5585E5FECD1}"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C41ED3-EDBB-467C-B638-F2E67F3D76CF}" type="slidenum">
              <a:rPr lang="en-IN" smtClean="0"/>
              <a:t>‹#›</a:t>
            </a:fld>
            <a:endParaRPr lang="en-IN"/>
          </a:p>
        </p:txBody>
      </p:sp>
    </p:spTree>
    <p:extLst>
      <p:ext uri="{BB962C8B-B14F-4D97-AF65-F5344CB8AC3E}">
        <p14:creationId xmlns:p14="http://schemas.microsoft.com/office/powerpoint/2010/main" val="673814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14C974-9CC9-4B91-A9BF-C5585E5FECD1}" type="datetimeFigureOut">
              <a:rPr lang="en-IN" smtClean="0"/>
              <a:t>18-04-2026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C41ED3-EDBB-467C-B638-F2E67F3D76CF}" type="slidenum">
              <a:rPr lang="en-IN" smtClean="0"/>
              <a:t>‹#›</a:t>
            </a:fld>
            <a:endParaRPr lang="en-IN"/>
          </a:p>
        </p:txBody>
      </p:sp>
    </p:spTree>
    <p:extLst>
      <p:ext uri="{BB962C8B-B14F-4D97-AF65-F5344CB8AC3E}">
        <p14:creationId xmlns:p14="http://schemas.microsoft.com/office/powerpoint/2010/main" val="203890892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4131C2-F04E-D9BC-B33B-363F09DD2D4E}"/>
              </a:ext>
            </a:extLst>
          </p:cNvPr>
          <p:cNvSpPr>
            <a:spLocks noGrp="1"/>
          </p:cNvSpPr>
          <p:nvPr>
            <p:ph type="title"/>
          </p:nvPr>
        </p:nvSpPr>
        <p:spPr>
          <a:xfrm>
            <a:off x="5889526" y="123464"/>
            <a:ext cx="6156084" cy="2796717"/>
          </a:xfrm>
        </p:spPr>
        <p:txBody>
          <a:bodyPr>
            <a:normAutofit/>
          </a:bodyPr>
          <a:lstStyle/>
          <a:p>
            <a:r>
              <a:rPr lang="en-US" sz="3600" dirty="0">
                <a:solidFill>
                  <a:schemeClr val="tx1"/>
                </a:solidFill>
                <a:latin typeface="Times New Roman" panose="02020603050405020304" pitchFamily="18" charset="0"/>
                <a:cs typeface="Times New Roman" panose="02020603050405020304" pitchFamily="18" charset="0"/>
              </a:rPr>
              <a:t>AI-Powered Career Guidance &amp; Recommendation System</a:t>
            </a:r>
            <a:br>
              <a:rPr lang="en-IN" sz="3600" dirty="0">
                <a:solidFill>
                  <a:schemeClr val="tx1"/>
                </a:solidFill>
                <a:latin typeface="Times New Roman" panose="02020603050405020304" pitchFamily="18" charset="0"/>
                <a:cs typeface="Times New Roman" panose="02020603050405020304" pitchFamily="18" charset="0"/>
              </a:rPr>
            </a:b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4AF58AC-0C52-2A44-2FC5-63A90BF9F3A0}"/>
              </a:ext>
            </a:extLst>
          </p:cNvPr>
          <p:cNvSpPr>
            <a:spLocks noGrp="1"/>
          </p:cNvSpPr>
          <p:nvPr>
            <p:ph type="body" idx="1"/>
          </p:nvPr>
        </p:nvSpPr>
        <p:spPr>
          <a:xfrm>
            <a:off x="5842000" y="4857135"/>
            <a:ext cx="2921271" cy="1415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prstClr val="black"/>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mbria" panose="02040503050406030204" pitchFamily="18" charset="0"/>
                <a:cs typeface="Times New Roman" panose="02020603050405020304" pitchFamily="18" charset="0"/>
              </a:rPr>
              <a:t>Under the Guidance of</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Dr.P.S.V.Vachaspati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Professor,CSE</a:t>
            </a:r>
            <a:endPar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271F8FD7-8FEC-C99D-5923-56685FAAD171}"/>
              </a:ext>
            </a:extLst>
          </p:cNvPr>
          <p:cNvSpPr txBox="1">
            <a:spLocks/>
          </p:cNvSpPr>
          <p:nvPr/>
        </p:nvSpPr>
        <p:spPr>
          <a:xfrm>
            <a:off x="8823904" y="4315801"/>
            <a:ext cx="3368096" cy="214834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9pPr>
          </a:lstStyle>
          <a:p>
            <a:pPr algn="just" defTabSz="914400">
              <a:spcBef>
                <a:spcPts val="0"/>
              </a:spcBef>
              <a:buClrTx/>
              <a:buSzTx/>
              <a:buFontTx/>
              <a:buNone/>
              <a:defRPr/>
            </a:pPr>
            <a:r>
              <a:rPr lang="en-US" sz="2000" b="1" dirty="0">
                <a:solidFill>
                  <a:prstClr val="black"/>
                </a:solidFill>
                <a:latin typeface="Times New Roman" panose="02020603050405020304" pitchFamily="18" charset="0"/>
                <a:ea typeface="Cambria" panose="02040503050406030204" pitchFamily="18" charset="0"/>
                <a:cs typeface="Times New Roman" panose="02020603050405020304" pitchFamily="18" charset="0"/>
              </a:rPr>
              <a:t>Team:B8</a:t>
            </a:r>
          </a:p>
          <a:p>
            <a:pPr algn="just"/>
            <a:r>
              <a:rPr lang="en-IN" dirty="0" err="1">
                <a:latin typeface="Times New Roman" panose="02020603050405020304" pitchFamily="18" charset="0"/>
                <a:cs typeface="Times New Roman" panose="02020603050405020304" pitchFamily="18" charset="0"/>
              </a:rPr>
              <a:t>B.Bindu</a:t>
            </a:r>
            <a:r>
              <a:rPr lang="en-IN" dirty="0">
                <a:latin typeface="Times New Roman" panose="02020603050405020304" pitchFamily="18" charset="0"/>
                <a:cs typeface="Times New Roman" panose="02020603050405020304" pitchFamily="18" charset="0"/>
              </a:rPr>
              <a:t> Sri(Y22ACS422)</a:t>
            </a:r>
          </a:p>
          <a:p>
            <a:pPr algn="just"/>
            <a:r>
              <a:rPr lang="en-IN" dirty="0" err="1">
                <a:latin typeface="Times New Roman" panose="02020603050405020304" pitchFamily="18" charset="0"/>
                <a:cs typeface="Times New Roman" panose="02020603050405020304" pitchFamily="18" charset="0"/>
              </a:rPr>
              <a:t>K.Sanjay</a:t>
            </a:r>
            <a:r>
              <a:rPr lang="en-IN" dirty="0">
                <a:latin typeface="Times New Roman" panose="02020603050405020304" pitchFamily="18" charset="0"/>
                <a:cs typeface="Times New Roman" panose="02020603050405020304" pitchFamily="18" charset="0"/>
              </a:rPr>
              <a:t> Krishna(Y22ACS469)</a:t>
            </a:r>
          </a:p>
          <a:p>
            <a:pPr algn="just"/>
            <a:r>
              <a:rPr lang="en-IN" dirty="0" err="1">
                <a:latin typeface="Times New Roman" panose="02020603050405020304" pitchFamily="18" charset="0"/>
                <a:cs typeface="Times New Roman" panose="02020603050405020304" pitchFamily="18" charset="0"/>
              </a:rPr>
              <a:t>B.Tharshi</a:t>
            </a:r>
            <a:r>
              <a:rPr lang="en-IN" dirty="0">
                <a:latin typeface="Times New Roman" panose="02020603050405020304" pitchFamily="18" charset="0"/>
                <a:cs typeface="Times New Roman" panose="02020603050405020304" pitchFamily="18" charset="0"/>
              </a:rPr>
              <a:t>(Y22ACS427)</a:t>
            </a:r>
          </a:p>
          <a:p>
            <a:pPr algn="just"/>
            <a:r>
              <a:rPr lang="en-IN" dirty="0" err="1">
                <a:latin typeface="Times New Roman" panose="02020603050405020304" pitchFamily="18" charset="0"/>
                <a:cs typeface="Times New Roman" panose="02020603050405020304" pitchFamily="18" charset="0"/>
              </a:rPr>
              <a:t>G.Sivamani</a:t>
            </a:r>
            <a:r>
              <a:rPr lang="en-IN" dirty="0">
                <a:latin typeface="Times New Roman" panose="02020603050405020304" pitchFamily="18" charset="0"/>
                <a:cs typeface="Times New Roman" panose="02020603050405020304" pitchFamily="18" charset="0"/>
              </a:rPr>
              <a:t>(Y22ACS456)</a:t>
            </a:r>
          </a:p>
        </p:txBody>
      </p:sp>
      <p:pic>
        <p:nvPicPr>
          <p:cNvPr id="7" name="Picture 6">
            <a:extLst>
              <a:ext uri="{FF2B5EF4-FFF2-40B4-BE49-F238E27FC236}">
                <a16:creationId xmlns:a16="http://schemas.microsoft.com/office/drawing/2014/main" id="{A23A76F6-E4B4-4D86-D261-C2BDF2203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781368" cy="6858000"/>
          </a:xfrm>
          <a:prstGeom prst="rect">
            <a:avLst/>
          </a:prstGeom>
        </p:spPr>
      </p:pic>
    </p:spTree>
    <p:extLst>
      <p:ext uri="{BB962C8B-B14F-4D97-AF65-F5344CB8AC3E}">
        <p14:creationId xmlns:p14="http://schemas.microsoft.com/office/powerpoint/2010/main" val="322991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4638-0708-3228-2F19-BB2912F3E8D1}"/>
              </a:ext>
            </a:extLst>
          </p:cNvPr>
          <p:cNvSpPr>
            <a:spLocks noGrp="1"/>
          </p:cNvSpPr>
          <p:nvPr>
            <p:ph type="title"/>
          </p:nvPr>
        </p:nvSpPr>
        <p:spPr>
          <a:xfrm>
            <a:off x="2713702" y="816638"/>
            <a:ext cx="4719484" cy="972064"/>
          </a:xfrm>
        </p:spPr>
        <p:txBody>
          <a:bodyPr/>
          <a:lstStyle/>
          <a:p>
            <a:pPr algn="just"/>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980991-B040-9F4D-5B74-9251B0EAB897}"/>
              </a:ext>
            </a:extLst>
          </p:cNvPr>
          <p:cNvSpPr>
            <a:spLocks noGrp="1"/>
          </p:cNvSpPr>
          <p:nvPr>
            <p:ph idx="1"/>
          </p:nvPr>
        </p:nvSpPr>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the modern educational landscape, students face significant challenges in choosing the right career path due to a lack of personalized guidance and clarity about industry requirements. Many students are unsure about their strengths, skills, and the opportunities available to them. Traditional career counseling methods are often generic and fail to provide data-driven insights.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AI-Powered Career Guidance &amp; Recommendation System</a:t>
            </a:r>
            <a:r>
              <a:rPr lang="en-US" dirty="0">
                <a:latin typeface="Times New Roman" panose="02020603050405020304" pitchFamily="18" charset="0"/>
                <a:cs typeface="Times New Roman" panose="02020603050405020304" pitchFamily="18" charset="0"/>
              </a:rPr>
              <a:t> is designed to assist students in making informed career decisions by analyzing their resumes and skill profiles. By leveraging Artificial Intelligence (AI) and Natural Language Processing (NLP), the system provides personalized career recommendations, identifies skill gaps, and offers structured learning guidance to help students achieve their career goals.</a:t>
            </a:r>
          </a:p>
          <a:p>
            <a:pPr algn="just"/>
            <a:endParaRPr lang="en-IN" dirty="0"/>
          </a:p>
        </p:txBody>
      </p:sp>
    </p:spTree>
    <p:extLst>
      <p:ext uri="{BB962C8B-B14F-4D97-AF65-F5344CB8AC3E}">
        <p14:creationId xmlns:p14="http://schemas.microsoft.com/office/powerpoint/2010/main" val="2472443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8DB9-5720-E6E1-DB22-483AF17EA8EC}"/>
              </a:ext>
            </a:extLst>
          </p:cNvPr>
          <p:cNvSpPr>
            <a:spLocks noGrp="1"/>
          </p:cNvSpPr>
          <p:nvPr>
            <p:ph type="title"/>
          </p:nvPr>
        </p:nvSpPr>
        <p:spPr>
          <a:xfrm>
            <a:off x="1912919" y="816638"/>
            <a:ext cx="6125497" cy="1050720"/>
          </a:xfrm>
        </p:spPr>
        <p:txBody>
          <a:bodyPr>
            <a:normAutofit/>
          </a:bodyPr>
          <a:lstStyle/>
          <a:p>
            <a:pPr algn="just"/>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496491-7145-ECDB-28B0-6A2A9DE77748}"/>
              </a:ext>
            </a:extLst>
          </p:cNvPr>
          <p:cNvSpPr>
            <a:spLocks noGrp="1"/>
          </p:cNvSpPr>
          <p:nvPr>
            <p:ph idx="1"/>
          </p:nvPr>
        </p:nvSpPr>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today’s highly competitive and rapidly evolving job market, students often face significant challenges in choosing the right career path due to a lack of personalized guidance and clear understanding of industry requirements. Many students are unsure about their strengths, skills, and interests, which leads to confusion and poor decision-making.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career counseling methods are often generic, time-consuming, and not easily accessible to all students. Additionally, existing job portals primarily focus on job listings and applications rather than helping individuals plan their careers or develop the necessary skills. They do not provide in-depth analysis of a student’s profile or identify skill gaps required for specific roles. As a result, students may pursue unsuitable career paths or remain underprepared for industry demands.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833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3D34-4138-6BAE-488E-DE6FD706C8D9}"/>
              </a:ext>
            </a:extLst>
          </p:cNvPr>
          <p:cNvSpPr>
            <a:spLocks noGrp="1"/>
          </p:cNvSpPr>
          <p:nvPr>
            <p:ph type="title"/>
          </p:nvPr>
        </p:nvSpPr>
        <p:spPr>
          <a:xfrm>
            <a:off x="2723535" y="685919"/>
            <a:ext cx="4504266" cy="1002890"/>
          </a:xfrm>
        </p:spPr>
        <p:txBody>
          <a:bodyPr/>
          <a:lstStyle/>
          <a:p>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21E1084-A9E6-B1DC-B513-C6900A8EBB90}"/>
              </a:ext>
            </a:extLst>
          </p:cNvPr>
          <p:cNvSpPr>
            <a:spLocks noGrp="1" noChangeArrowheads="1"/>
          </p:cNvSpPr>
          <p:nvPr>
            <p:ph idx="1"/>
          </p:nvPr>
        </p:nvSpPr>
        <p:spPr bwMode="auto">
          <a:xfrm>
            <a:off x="677334" y="1688809"/>
            <a:ext cx="859666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student profiles using AI &amp; NLP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skills, education, and experience from resumes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personalized career recommendations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recommendations (Explainable AI)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skill gaps for each career path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 structured learning guidance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progress and career readiness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detailed career reports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user-friendly interface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informed career decision-making </a:t>
            </a:r>
          </a:p>
        </p:txBody>
      </p:sp>
    </p:spTree>
    <p:extLst>
      <p:ext uri="{BB962C8B-B14F-4D97-AF65-F5344CB8AC3E}">
        <p14:creationId xmlns:p14="http://schemas.microsoft.com/office/powerpoint/2010/main" val="58756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E3B2-C379-EEA0-9999-F09B9E15FD11}"/>
              </a:ext>
            </a:extLst>
          </p:cNvPr>
          <p:cNvSpPr>
            <a:spLocks noGrp="1"/>
          </p:cNvSpPr>
          <p:nvPr>
            <p:ph type="title"/>
          </p:nvPr>
        </p:nvSpPr>
        <p:spPr>
          <a:xfrm>
            <a:off x="1797666" y="816638"/>
            <a:ext cx="8596668" cy="1012724"/>
          </a:xfrm>
        </p:spPr>
        <p:txBody>
          <a:bodyPr/>
          <a:lstStyle/>
          <a:p>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881A8A-C476-4EC7-E338-48CC535090EB}"/>
              </a:ext>
            </a:extLst>
          </p:cNvPr>
          <p:cNvSpPr>
            <a:spLocks noGrp="1"/>
          </p:cNvSpPr>
          <p:nvPr>
            <p:ph idx="1"/>
          </p:nvPr>
        </p:nvSpPr>
        <p:spPr>
          <a:xfrm>
            <a:off x="647837" y="1829362"/>
            <a:ext cx="8596668" cy="3880773"/>
          </a:xfrm>
        </p:spPr>
        <p:txBody>
          <a:bodyPr>
            <a:normAutofit fontScale="925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existing systems available for career guidance mainly include job portals, career websites, and traditional counseling methods. These platforms primarily focus on providing job listings and </a:t>
            </a:r>
            <a:r>
              <a:rPr lang="en-US" sz="1900" dirty="0">
                <a:latin typeface="Times New Roman" panose="02020603050405020304" pitchFamily="18" charset="0"/>
                <a:cs typeface="Times New Roman" panose="02020603050405020304" pitchFamily="18" charset="0"/>
              </a:rPr>
              <a:t>application</a:t>
            </a:r>
            <a:r>
              <a:rPr lang="en-US" dirty="0">
                <a:latin typeface="Times New Roman" panose="02020603050405020304" pitchFamily="18" charset="0"/>
                <a:cs typeface="Times New Roman" panose="02020603050405020304" pitchFamily="18" charset="0"/>
              </a:rPr>
              <a:t> services rather than guiding students in choosing the right career path.</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Most job portals offer limited personalization and do not analyze individual student profiles in depth.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lack advanced features such as resume-based skill extraction, career suitability analysis, and identification of skill gaps.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Traditional career counseling, on the other hand, is often time-consuming, expensive, and not easily accessible to all students. Additionally, these methods rely heavily on manual guidance and may not always reflect current industry trends. As a result, students receive generic advice that does not align with their unique skills, interests, or career goals, making existing systems less effective for comprehensive career planning and development.</a:t>
            </a: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8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FDF1-E5BE-7110-63E6-375228984E53}"/>
              </a:ext>
            </a:extLst>
          </p:cNvPr>
          <p:cNvSpPr>
            <a:spLocks noGrp="1"/>
          </p:cNvSpPr>
          <p:nvPr>
            <p:ph type="title"/>
          </p:nvPr>
        </p:nvSpPr>
        <p:spPr>
          <a:xfrm>
            <a:off x="1797666" y="817938"/>
            <a:ext cx="8596668" cy="1015852"/>
          </a:xfrm>
        </p:spPr>
        <p:txBody>
          <a:bodyPr/>
          <a:lstStyle/>
          <a:p>
            <a:r>
              <a:rPr lang="en-US" dirty="0">
                <a:latin typeface="Times New Roman" panose="02020603050405020304" pitchFamily="18" charset="0"/>
                <a:cs typeface="Times New Roman" panose="02020603050405020304" pitchFamily="18" charset="0"/>
              </a:rPr>
              <a:t>PROPSED SYSTEM</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AAF5B56-0EAE-D8B1-B824-6BD1DE6DED96}"/>
              </a:ext>
            </a:extLst>
          </p:cNvPr>
          <p:cNvSpPr>
            <a:spLocks noGrp="1" noChangeArrowheads="1"/>
          </p:cNvSpPr>
          <p:nvPr>
            <p:ph idx="1"/>
          </p:nvPr>
        </p:nvSpPr>
        <p:spPr bwMode="auto">
          <a:xfrm>
            <a:off x="932972" y="1997839"/>
            <a:ext cx="859666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resume and analyze using AI &amp; NLP techniques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key details like skills, education, and experience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personalized career recommendations based on profile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 clear explanations for each recommended career path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missing or weak skills required for selected roles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 structured learning guidance for skill improvement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Redirect users to external platforms for learning resources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progress using career readiness scores and charts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detailed career report in PDF format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simple, user-friendly, and interactive interfac</a:t>
            </a:r>
            <a:r>
              <a:rPr lang="en-US" altLang="en-US" dirty="0">
                <a:solidFill>
                  <a:schemeClr val="tx1"/>
                </a:solidFill>
                <a:latin typeface="Times New Roman" panose="02020603050405020304" pitchFamily="18" charset="0"/>
                <a:cs typeface="Times New Roman" panose="02020603050405020304" pitchFamily="18" charset="0"/>
              </a:rPr>
              <a:t>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942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452EB-8F81-5B7E-5345-A25CC4ADEFDD}"/>
              </a:ext>
            </a:extLst>
          </p:cNvPr>
          <p:cNvSpPr>
            <a:spLocks noGrp="1"/>
          </p:cNvSpPr>
          <p:nvPr>
            <p:ph type="title"/>
          </p:nvPr>
        </p:nvSpPr>
        <p:spPr>
          <a:xfrm>
            <a:off x="2207341" y="684982"/>
            <a:ext cx="5536653" cy="986502"/>
          </a:xfrm>
        </p:spPr>
        <p:txBody>
          <a:bodyPr>
            <a:normAutofit fontScale="90000"/>
          </a:bodyPr>
          <a:lstStyle/>
          <a:p>
            <a:r>
              <a:rPr lang="en-IN" dirty="0">
                <a:latin typeface="Times New Roman" panose="02020603050405020304" pitchFamily="18" charset="0"/>
                <a:cs typeface="Times New Roman" panose="02020603050405020304" pitchFamily="18" charset="0"/>
              </a:rPr>
              <a:t>SYSTEM ARCHITECTURE</a:t>
            </a:r>
          </a:p>
        </p:txBody>
      </p:sp>
      <p:sp>
        <p:nvSpPr>
          <p:cNvPr id="3" name="Content Placeholder 2">
            <a:extLst>
              <a:ext uri="{FF2B5EF4-FFF2-40B4-BE49-F238E27FC236}">
                <a16:creationId xmlns:a16="http://schemas.microsoft.com/office/drawing/2014/main" id="{7F33E9B3-E2E6-8E34-007C-980869ABCD6E}"/>
              </a:ext>
            </a:extLst>
          </p:cNvPr>
          <p:cNvSpPr>
            <a:spLocks noGrp="1"/>
          </p:cNvSpPr>
          <p:nvPr>
            <p:ph idx="1"/>
          </p:nvPr>
        </p:nvSpPr>
        <p:spPr>
          <a:xfrm>
            <a:off x="677334" y="1828801"/>
            <a:ext cx="8596668" cy="4212562"/>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AI-Powered Career Guidance &amp; Recommendation System</a:t>
            </a:r>
            <a:r>
              <a:rPr lang="en-US" dirty="0">
                <a:latin typeface="Times New Roman" panose="02020603050405020304" pitchFamily="18" charset="0"/>
                <a:cs typeface="Times New Roman" panose="02020603050405020304" pitchFamily="18" charset="0"/>
              </a:rPr>
              <a:t> follows a </a:t>
            </a:r>
            <a:r>
              <a:rPr lang="en-US" b="1" dirty="0">
                <a:latin typeface="Times New Roman" panose="02020603050405020304" pitchFamily="18" charset="0"/>
                <a:cs typeface="Times New Roman" panose="02020603050405020304" pitchFamily="18" charset="0"/>
              </a:rPr>
              <a:t>client-server architecture</a:t>
            </a:r>
            <a:r>
              <a:rPr lang="en-US" dirty="0">
                <a:latin typeface="Times New Roman" panose="02020603050405020304" pitchFamily="18" charset="0"/>
                <a:cs typeface="Times New Roman" panose="02020603050405020304" pitchFamily="18" charset="0"/>
              </a:rPr>
              <a:t> that ensures efficient data processing, scalability, and smooth user interaction.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is divided into four main components: </a:t>
            </a:r>
            <a:r>
              <a:rPr lang="en-US" b="1" dirty="0">
                <a:latin typeface="Times New Roman" panose="02020603050405020304" pitchFamily="18" charset="0"/>
                <a:cs typeface="Times New Roman" panose="02020603050405020304" pitchFamily="18" charset="0"/>
              </a:rPr>
              <a:t>Frontend, Backend, Database, and AI/NLP Module</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 acts as the user interface where students can register, log in, upload their resumes, and view career recommendations, skill gaps, and reports. It is designed to be interactive and user-friendly.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handles all the core processing of the system. It receives user inputs, processes resume data, communicates </a:t>
            </a:r>
            <a:r>
              <a:rPr lang="en-US" sz="1900" dirty="0">
                <a:latin typeface="Times New Roman" panose="02020603050405020304" pitchFamily="18" charset="0"/>
                <a:cs typeface="Times New Roman" panose="02020603050405020304" pitchFamily="18" charset="0"/>
              </a:rPr>
              <a:t>with</a:t>
            </a:r>
            <a:r>
              <a:rPr lang="en-US" dirty="0">
                <a:latin typeface="Times New Roman" panose="02020603050405020304" pitchFamily="18" charset="0"/>
                <a:cs typeface="Times New Roman" panose="02020603050405020304" pitchFamily="18" charset="0"/>
              </a:rPr>
              <a:t> the AI module, and generates results such as career suggestions and reports.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AI/NLP Module</a:t>
            </a:r>
            <a:r>
              <a:rPr lang="en-US" dirty="0">
                <a:latin typeface="Times New Roman" panose="02020603050405020304" pitchFamily="18" charset="0"/>
                <a:cs typeface="Times New Roman" panose="02020603050405020304" pitchFamily="18" charset="0"/>
              </a:rPr>
              <a:t> is the key component of the system. It analyzes the uploaded resume using Natural Language Processing techniques to extract important information like skills, education, and experience. Based on this data, it recommends suitable career paths and identifies skill gaps.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stores all user-related data, including profiles, resumes, extracted skills, career recommendations, and progress tracking information.</a:t>
            </a:r>
          </a:p>
        </p:txBody>
      </p:sp>
    </p:spTree>
    <p:extLst>
      <p:ext uri="{BB962C8B-B14F-4D97-AF65-F5344CB8AC3E}">
        <p14:creationId xmlns:p14="http://schemas.microsoft.com/office/powerpoint/2010/main" val="2119752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5192-851C-797A-C141-AF2105EAC9D7}"/>
              </a:ext>
            </a:extLst>
          </p:cNvPr>
          <p:cNvSpPr>
            <a:spLocks noGrp="1"/>
          </p:cNvSpPr>
          <p:nvPr>
            <p:ph type="title"/>
          </p:nvPr>
        </p:nvSpPr>
        <p:spPr>
          <a:xfrm>
            <a:off x="1970275" y="609600"/>
            <a:ext cx="6667363" cy="934065"/>
          </a:xfrm>
        </p:spPr>
        <p:txBody>
          <a:bodyPr/>
          <a:lstStyle/>
          <a:p>
            <a:r>
              <a:rPr lang="en-US" dirty="0">
                <a:latin typeface="Times New Roman" panose="02020603050405020304" pitchFamily="18" charset="0"/>
                <a:cs typeface="Times New Roman" panose="02020603050405020304" pitchFamily="18" charset="0"/>
              </a:rPr>
              <a:t>DESIGN 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B6BAD9-3C9D-6750-BFE9-2654CB095AA3}"/>
              </a:ext>
            </a:extLst>
          </p:cNvPr>
          <p:cNvSpPr>
            <a:spLocks noGrp="1"/>
          </p:cNvSpPr>
          <p:nvPr>
            <p:ph idx="1"/>
          </p:nvPr>
        </p:nvSpPr>
        <p:spPr>
          <a:xfrm>
            <a:off x="677332" y="1737802"/>
            <a:ext cx="9253248" cy="408781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AI-Powered Career Guidance &amp; Recommendation System</a:t>
            </a:r>
            <a:r>
              <a:rPr lang="en-US" dirty="0">
                <a:latin typeface="Times New Roman" panose="02020603050405020304" pitchFamily="18" charset="0"/>
                <a:cs typeface="Times New Roman" panose="02020603050405020304" pitchFamily="18" charset="0"/>
              </a:rPr>
              <a:t> is developed using a structured approach to ensure reliability, scalability, and efficiency. The process includes the following steps: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Requirement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Identify user needs such as resume analysis, career recommendations, and skill gap detection, along with defining system requirements.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System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Plan the overall architecture, including frontend, backend, database, and AI modules, along with data flow and interface design.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Implementation: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 the system using suitable technologies, integrating frontend, backend, and AI/NLP components.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Testing: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Verify system accuracy, performance, and functionality through various test cases.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Maintenance and Enhancement: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Continuously update the system to fix issues and improve features based on user feedback.</a:t>
            </a:r>
          </a:p>
        </p:txBody>
      </p:sp>
    </p:spTree>
    <p:extLst>
      <p:ext uri="{BB962C8B-B14F-4D97-AF65-F5344CB8AC3E}">
        <p14:creationId xmlns:p14="http://schemas.microsoft.com/office/powerpoint/2010/main" val="388847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50B9-38E9-43E8-8A36-4F1D8A91AABE}"/>
              </a:ext>
            </a:extLst>
          </p:cNvPr>
          <p:cNvSpPr>
            <a:spLocks noGrp="1"/>
          </p:cNvSpPr>
          <p:nvPr>
            <p:ph type="title"/>
          </p:nvPr>
        </p:nvSpPr>
        <p:spPr>
          <a:xfrm>
            <a:off x="2266335" y="639097"/>
            <a:ext cx="5418666" cy="934065"/>
          </a:xfrm>
        </p:spPr>
        <p:txBody>
          <a:bodyPr/>
          <a:lstStyle/>
          <a:p>
            <a:r>
              <a:rPr lang="en-US" dirty="0">
                <a:latin typeface="Times New Roman" panose="02020603050405020304" pitchFamily="18" charset="0"/>
                <a:cs typeface="Times New Roman" panose="02020603050405020304" pitchFamily="18" charset="0"/>
              </a:rPr>
              <a:t>TECHNOLOGIES USED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0E2079-3DA2-7D4E-2A62-4E2D89407659}"/>
              </a:ext>
            </a:extLst>
          </p:cNvPr>
          <p:cNvSpPr>
            <a:spLocks noGrp="1"/>
          </p:cNvSpPr>
          <p:nvPr>
            <p:ph idx="1"/>
          </p:nvPr>
        </p:nvSpPr>
        <p:spPr>
          <a:xfrm>
            <a:off x="677334" y="1361441"/>
            <a:ext cx="8596668" cy="4306296"/>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AI-Powered Career Guidance &amp; Recommendation System</a:t>
            </a:r>
            <a:r>
              <a:rPr lang="en-US" dirty="0">
                <a:latin typeface="Times New Roman" panose="02020603050405020304" pitchFamily="18" charset="0"/>
                <a:cs typeface="Times New Roman" panose="02020603050405020304" pitchFamily="18" charset="0"/>
              </a:rPr>
              <a:t> is developed using modern technologies to ensure efficiency and scalability:</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Frontend Technologies: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HTML, CSS, JavaScript, and React.js are used to design an interactive and user-friendly interface.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Backend Technologies: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Python or Node.js is used to handle server-side logic, data processing, and system operations.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Database: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MongoDB or MySQL is used to store user data, resumes, and career-related information.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AI/NLP Tools: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Libraries like NLTK and spaCy are used for resume parsing, skill extraction, and analysis.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Visualization Tools: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Chart.js or similar libraries are used to display progress and performance through charts.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963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44F20-69E0-0661-60FB-616C9AD3EA55}"/>
              </a:ext>
            </a:extLst>
          </p:cNvPr>
          <p:cNvSpPr>
            <a:spLocks noGrp="1"/>
          </p:cNvSpPr>
          <p:nvPr>
            <p:ph type="title"/>
          </p:nvPr>
        </p:nvSpPr>
        <p:spPr>
          <a:xfrm>
            <a:off x="1932038" y="816638"/>
            <a:ext cx="6087260" cy="816077"/>
          </a:xfrm>
        </p:spPr>
        <p:txBody>
          <a:bodyPr/>
          <a:lstStyle/>
          <a:p>
            <a:r>
              <a:rPr lang="en-US" dirty="0">
                <a:latin typeface="Times New Roman" panose="02020603050405020304" pitchFamily="18" charset="0"/>
                <a:cs typeface="Times New Roman" panose="02020603050405020304" pitchFamily="18" charset="0"/>
              </a:rPr>
              <a:t>FRONTEND&amp;BACKEND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B5046B-61F7-6137-3B55-7B56AB5A4A70}"/>
              </a:ext>
            </a:extLst>
          </p:cNvPr>
          <p:cNvSpPr>
            <a:spLocks noGrp="1"/>
          </p:cNvSpPr>
          <p:nvPr>
            <p:ph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a:t>
            </a:r>
          </a:p>
          <a:p>
            <a:pPr marL="400050" lvl="1" indent="0" algn="just">
              <a:buNone/>
            </a:pPr>
            <a:r>
              <a:rPr lang="en-US" dirty="0">
                <a:latin typeface="Times New Roman" panose="02020603050405020304" pitchFamily="18" charset="0"/>
                <a:cs typeface="Times New Roman" panose="02020603050405020304" pitchFamily="18" charset="0"/>
              </a:rPr>
              <a:t>In this project, the frontend provides interfaces for user registration, login, and resume upload. It displays extracted skills, recommended career roles with explanations, identified skill gaps, progress charts, and downloadable career reports in a clear and user-friendly manner.</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Backend:</a:t>
            </a:r>
          </a:p>
          <a:p>
            <a:pPr marL="400050" lvl="1" indent="0">
              <a:buNone/>
            </a:pPr>
            <a:r>
              <a:rPr lang="en-US" dirty="0">
                <a:latin typeface="Times New Roman" panose="02020603050405020304" pitchFamily="18" charset="0"/>
                <a:cs typeface="Times New Roman" panose="02020603050405020304" pitchFamily="18" charset="0"/>
              </a:rPr>
              <a:t>The backend processes the uploaded resumes using AI and NLP techniques to extract relevant information such as skills, education, and experience. It generates personalized career recommendations, identifies missing skills, provides learning guidance, manages user data, and handles report generation.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558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EA44-E2E3-A240-C97E-916480D3FC1E}"/>
              </a:ext>
            </a:extLst>
          </p:cNvPr>
          <p:cNvSpPr>
            <a:spLocks noGrp="1"/>
          </p:cNvSpPr>
          <p:nvPr>
            <p:ph type="title"/>
          </p:nvPr>
        </p:nvSpPr>
        <p:spPr>
          <a:xfrm>
            <a:off x="3011128" y="644573"/>
            <a:ext cx="6169743" cy="1012723"/>
          </a:xfrm>
        </p:spPr>
        <p:txBody>
          <a:bodyPr>
            <a:normAutofit/>
          </a:bodyPr>
          <a:lstStyle/>
          <a:p>
            <a:r>
              <a:rPr lang="en-US" dirty="0">
                <a:latin typeface="Times New Roman" panose="02020603050405020304" pitchFamily="18" charset="0"/>
                <a:cs typeface="Times New Roman" panose="02020603050405020304" pitchFamily="18" charset="0"/>
              </a:rPr>
              <a:t>SOFTWARE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CD88B6-03D5-257A-2ECB-05508EC8BB06}"/>
              </a:ext>
            </a:extLst>
          </p:cNvPr>
          <p:cNvSpPr>
            <a:spLocks noGrp="1"/>
          </p:cNvSpPr>
          <p:nvPr>
            <p:ph idx="1"/>
          </p:nvPr>
        </p:nvSpPr>
        <p:spPr>
          <a:xfrm>
            <a:off x="677333" y="1826292"/>
            <a:ext cx="9725196" cy="3880773"/>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Software Requirements:</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Operating System:</a:t>
            </a:r>
            <a:r>
              <a:rPr lang="en-IN" sz="1800" dirty="0">
                <a:latin typeface="Times New Roman" panose="02020603050405020304" pitchFamily="18" charset="0"/>
                <a:cs typeface="Times New Roman" panose="02020603050405020304" pitchFamily="18" charset="0"/>
              </a:rPr>
              <a:t> Windows / Linux / macOS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Frontend Technologies:</a:t>
            </a:r>
            <a:r>
              <a:rPr lang="en-IN" sz="1800" dirty="0">
                <a:latin typeface="Times New Roman" panose="02020603050405020304" pitchFamily="18" charset="0"/>
                <a:cs typeface="Times New Roman" panose="02020603050405020304" pitchFamily="18" charset="0"/>
              </a:rPr>
              <a:t> HTML, CSS, JavaScript, React.js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Backend Technologies:</a:t>
            </a:r>
            <a:r>
              <a:rPr lang="en-IN" sz="1800" dirty="0">
                <a:latin typeface="Times New Roman" panose="02020603050405020304" pitchFamily="18" charset="0"/>
                <a:cs typeface="Times New Roman" panose="02020603050405020304" pitchFamily="18" charset="0"/>
              </a:rPr>
              <a:t> Python or Node.js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Database:</a:t>
            </a:r>
            <a:r>
              <a:rPr lang="en-IN" sz="1800" dirty="0">
                <a:latin typeface="Times New Roman" panose="02020603050405020304" pitchFamily="18" charset="0"/>
                <a:cs typeface="Times New Roman" panose="02020603050405020304" pitchFamily="18" charset="0"/>
              </a:rPr>
              <a:t> MongoDB / MySQL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AI/NLP Libraries:</a:t>
            </a:r>
            <a:r>
              <a:rPr lang="en-IN" sz="1800" dirty="0">
                <a:latin typeface="Times New Roman" panose="02020603050405020304" pitchFamily="18" charset="0"/>
                <a:cs typeface="Times New Roman" panose="02020603050405020304" pitchFamily="18" charset="0"/>
              </a:rPr>
              <a:t> NLTK, </a:t>
            </a:r>
            <a:r>
              <a:rPr lang="en-IN" sz="1800" dirty="0" err="1">
                <a:latin typeface="Times New Roman" panose="02020603050405020304" pitchFamily="18" charset="0"/>
                <a:cs typeface="Times New Roman" panose="02020603050405020304" pitchFamily="18" charset="0"/>
              </a:rPr>
              <a:t>spaCy</a:t>
            </a:r>
            <a:r>
              <a:rPr lang="en-IN" sz="18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Development Tools:</a:t>
            </a:r>
            <a:r>
              <a:rPr lang="en-IN" sz="1800" dirty="0">
                <a:latin typeface="Times New Roman" panose="02020603050405020304" pitchFamily="18" charset="0"/>
                <a:cs typeface="Times New Roman" panose="02020603050405020304" pitchFamily="18" charset="0"/>
              </a:rPr>
              <a:t> VS Code / PyCharm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Web Browser:</a:t>
            </a:r>
            <a:r>
              <a:rPr lang="en-IN" sz="1800" dirty="0">
                <a:latin typeface="Times New Roman" panose="02020603050405020304" pitchFamily="18" charset="0"/>
                <a:cs typeface="Times New Roman" panose="02020603050405020304" pitchFamily="18" charset="0"/>
              </a:rPr>
              <a:t> Google Chrome / Edge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Version Control:</a:t>
            </a:r>
            <a:r>
              <a:rPr lang="en-IN" sz="1800" dirty="0">
                <a:latin typeface="Times New Roman" panose="02020603050405020304" pitchFamily="18" charset="0"/>
                <a:cs typeface="Times New Roman" panose="02020603050405020304" pitchFamily="18" charset="0"/>
              </a:rPr>
              <a:t> Git (optional)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092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E4922-55AD-70F3-C4B9-14DF0DF388DF}"/>
              </a:ext>
            </a:extLst>
          </p:cNvPr>
          <p:cNvSpPr>
            <a:spLocks noGrp="1"/>
          </p:cNvSpPr>
          <p:nvPr>
            <p:ph type="title"/>
          </p:nvPr>
        </p:nvSpPr>
        <p:spPr>
          <a:xfrm>
            <a:off x="2920180" y="717755"/>
            <a:ext cx="4110976" cy="894735"/>
          </a:xfrm>
        </p:spPr>
        <p:txBody>
          <a:bodyPr/>
          <a:lstStyle/>
          <a:p>
            <a:r>
              <a:rPr lang="en-US" dirty="0">
                <a:latin typeface="Times New Roman" panose="02020603050405020304" pitchFamily="18" charset="0"/>
                <a:cs typeface="Times New Roman" panose="02020603050405020304" pitchFamily="18" charset="0"/>
              </a:rPr>
              <a:t>HARDWARE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D95479-D169-4958-BC43-507E71F9AC36}"/>
              </a:ext>
            </a:extLst>
          </p:cNvPr>
          <p:cNvSpPr>
            <a:spLocks noGrp="1"/>
          </p:cNvSpPr>
          <p:nvPr>
            <p:ph idx="1"/>
          </p:nvPr>
        </p:nvSpPr>
        <p:spPr>
          <a:xfrm>
            <a:off x="677334" y="2160589"/>
            <a:ext cx="8596668" cy="3099669"/>
          </a:xfrm>
        </p:spPr>
        <p:txBody>
          <a:bodyPr/>
          <a:lstStyle/>
          <a:p>
            <a:pPr marL="0" indent="0">
              <a:buNone/>
            </a:pPr>
            <a:r>
              <a:rPr lang="en-IN" b="1" dirty="0">
                <a:latin typeface="Times New Roman" panose="02020603050405020304" pitchFamily="18" charset="0"/>
                <a:cs typeface="Times New Roman" panose="02020603050405020304" pitchFamily="18" charset="0"/>
              </a:rPr>
              <a:t>Hardware Requirements:</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Processor:</a:t>
            </a:r>
            <a:r>
              <a:rPr lang="en-IN" sz="1800" dirty="0">
                <a:latin typeface="Times New Roman" panose="02020603050405020304" pitchFamily="18" charset="0"/>
                <a:cs typeface="Times New Roman" panose="02020603050405020304" pitchFamily="18" charset="0"/>
              </a:rPr>
              <a:t> Intel i3 or above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RAM:</a:t>
            </a:r>
            <a:r>
              <a:rPr lang="en-IN" sz="1800" dirty="0">
                <a:latin typeface="Times New Roman" panose="02020603050405020304" pitchFamily="18" charset="0"/>
                <a:cs typeface="Times New Roman" panose="02020603050405020304" pitchFamily="18" charset="0"/>
              </a:rPr>
              <a:t> Minimum 4 GB (8 GB recommended)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Storage:</a:t>
            </a:r>
            <a:r>
              <a:rPr lang="en-IN" sz="1800" dirty="0">
                <a:latin typeface="Times New Roman" panose="02020603050405020304" pitchFamily="18" charset="0"/>
                <a:cs typeface="Times New Roman" panose="02020603050405020304" pitchFamily="18" charset="0"/>
              </a:rPr>
              <a:t> At least 10 GB free space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System Type:</a:t>
            </a:r>
            <a:r>
              <a:rPr lang="en-IN" sz="1800" dirty="0">
                <a:latin typeface="Times New Roman" panose="02020603050405020304" pitchFamily="18" charset="0"/>
                <a:cs typeface="Times New Roman" panose="02020603050405020304" pitchFamily="18" charset="0"/>
              </a:rPr>
              <a:t> 64-bit computer/laptop </a:t>
            </a:r>
          </a:p>
          <a:p>
            <a:pPr lvl="1">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Internet Connection:</a:t>
            </a:r>
            <a:r>
              <a:rPr lang="en-IN" sz="1800" dirty="0">
                <a:latin typeface="Times New Roman" panose="02020603050405020304" pitchFamily="18" charset="0"/>
                <a:cs typeface="Times New Roman" panose="02020603050405020304" pitchFamily="18" charset="0"/>
              </a:rPr>
              <a:t> Required for system usage and updates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4203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22"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Isosceles Triangle 24">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CFF061C1-E7D9-7EC6-5310-DDC5410959EF}"/>
              </a:ext>
            </a:extLst>
          </p:cNvPr>
          <p:cNvSpPr>
            <a:spLocks noGrp="1"/>
          </p:cNvSpPr>
          <p:nvPr>
            <p:ph type="title"/>
          </p:nvPr>
        </p:nvSpPr>
        <p:spPr>
          <a:xfrm>
            <a:off x="6145330" y="969400"/>
            <a:ext cx="3458112" cy="2367559"/>
          </a:xfrm>
        </p:spPr>
        <p:txBody>
          <a:bodyPr vert="horz" lIns="91440" tIns="45720" rIns="91440" bIns="45720" rtlCol="0" anchor="b">
            <a:normAutofit/>
          </a:bodyPr>
          <a:lstStyle/>
          <a:p>
            <a:pPr algn="r"/>
            <a:r>
              <a:rPr lang="en-US" sz="4400" dirty="0">
                <a:latin typeface="Times New Roman" panose="02020603050405020304" pitchFamily="18" charset="0"/>
                <a:cs typeface="Times New Roman" panose="02020603050405020304" pitchFamily="18" charset="0"/>
              </a:rPr>
              <a:t>FLOW  CHART</a:t>
            </a:r>
          </a:p>
        </p:txBody>
      </p:sp>
      <p:pic>
        <p:nvPicPr>
          <p:cNvPr id="4" name="Content Placeholder 3">
            <a:extLst>
              <a:ext uri="{FF2B5EF4-FFF2-40B4-BE49-F238E27FC236}">
                <a16:creationId xmlns:a16="http://schemas.microsoft.com/office/drawing/2014/main" id="{62DAC87B-F433-0E5B-C030-35E731F49722}"/>
              </a:ext>
            </a:extLst>
          </p:cNvPr>
          <p:cNvPicPr>
            <a:picLocks/>
          </p:cNvPicPr>
          <p:nvPr/>
        </p:nvPicPr>
        <p:blipFill>
          <a:blip r:embed="rId2"/>
          <a:srcRect r="12818"/>
          <a:stretch>
            <a:fillRect/>
          </a:stretch>
        </p:blipFill>
        <p:spPr>
          <a:xfrm>
            <a:off x="863600" y="880330"/>
            <a:ext cx="4973212" cy="4335340"/>
          </a:xfrm>
          <a:prstGeom prst="rect">
            <a:avLst/>
          </a:prstGeom>
        </p:spPr>
      </p:pic>
    </p:spTree>
    <p:extLst>
      <p:ext uri="{BB962C8B-B14F-4D97-AF65-F5344CB8AC3E}">
        <p14:creationId xmlns:p14="http://schemas.microsoft.com/office/powerpoint/2010/main" val="2402328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ABA25A55-2C70-4BF4-84B3-DAB0B6A0F9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25" name="Freeform 14">
              <a:extLst>
                <a:ext uri="{FF2B5EF4-FFF2-40B4-BE49-F238E27FC236}">
                  <a16:creationId xmlns:a16="http://schemas.microsoft.com/office/drawing/2014/main" id="{34DDEB77-23C4-4B9F-A228-97B5599B3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4" name="Straight Connector 13">
              <a:extLst>
                <a:ext uri="{FF2B5EF4-FFF2-40B4-BE49-F238E27FC236}">
                  <a16:creationId xmlns:a16="http://schemas.microsoft.com/office/drawing/2014/main" id="{D58851FF-DCF2-43C7-8970-B7045ED7533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06852C5-306E-46FB-844A-7632E6D390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F40C9C1B-A82E-4755-816B-C827A271F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5">
              <a:extLst>
                <a:ext uri="{FF2B5EF4-FFF2-40B4-BE49-F238E27FC236}">
                  <a16:creationId xmlns:a16="http://schemas.microsoft.com/office/drawing/2014/main" id="{8E7D1B95-1664-47D2-9F1E-5AE3B8F8E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a:extLst>
                <a:ext uri="{FF2B5EF4-FFF2-40B4-BE49-F238E27FC236}">
                  <a16:creationId xmlns:a16="http://schemas.microsoft.com/office/drawing/2014/main" id="{C63FECDE-6D49-477E-896A-AEFD1909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7">
              <a:extLst>
                <a:ext uri="{FF2B5EF4-FFF2-40B4-BE49-F238E27FC236}">
                  <a16:creationId xmlns:a16="http://schemas.microsoft.com/office/drawing/2014/main" id="{42502F9E-0DC0-454C-8CBC-937053820F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8">
              <a:extLst>
                <a:ext uri="{FF2B5EF4-FFF2-40B4-BE49-F238E27FC236}">
                  <a16:creationId xmlns:a16="http://schemas.microsoft.com/office/drawing/2014/main" id="{E4139BD5-2F4F-48E5-930B-BF6BCAF6E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9">
              <a:extLst>
                <a:ext uri="{FF2B5EF4-FFF2-40B4-BE49-F238E27FC236}">
                  <a16:creationId xmlns:a16="http://schemas.microsoft.com/office/drawing/2014/main" id="{B12DD939-5D79-4EC3-A014-5385FA549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31">
              <a:extLst>
                <a:ext uri="{FF2B5EF4-FFF2-40B4-BE49-F238E27FC236}">
                  <a16:creationId xmlns:a16="http://schemas.microsoft.com/office/drawing/2014/main" id="{1E730207-4624-4450-B869-9F04E05BF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6B32171E-7146-6D73-A22F-CE7045B0EC97}"/>
              </a:ext>
            </a:extLst>
          </p:cNvPr>
          <p:cNvSpPr>
            <a:spLocks noGrp="1"/>
          </p:cNvSpPr>
          <p:nvPr>
            <p:ph type="title"/>
          </p:nvPr>
        </p:nvSpPr>
        <p:spPr>
          <a:xfrm>
            <a:off x="890423" y="1722427"/>
            <a:ext cx="3742675" cy="2328409"/>
          </a:xfrm>
        </p:spPr>
        <p:txBody>
          <a:bodyPr vert="horz" lIns="91440" tIns="45720" rIns="91440" bIns="45720" rtlCol="0" anchor="b">
            <a:normAutofit/>
          </a:bodyPr>
          <a:lstStyle/>
          <a:p>
            <a:r>
              <a:rPr lang="en-US" sz="5400" dirty="0"/>
              <a:t>OUTPUT SCREENS</a:t>
            </a:r>
          </a:p>
        </p:txBody>
      </p:sp>
      <p:pic>
        <p:nvPicPr>
          <p:cNvPr id="7" name="Picture 6">
            <a:extLst>
              <a:ext uri="{FF2B5EF4-FFF2-40B4-BE49-F238E27FC236}">
                <a16:creationId xmlns:a16="http://schemas.microsoft.com/office/drawing/2014/main" id="{3F34A68C-44A4-8F96-CF02-0F31EFB635E5}"/>
              </a:ext>
            </a:extLst>
          </p:cNvPr>
          <p:cNvPicPr/>
          <p:nvPr/>
        </p:nvPicPr>
        <p:blipFill>
          <a:blip r:embed="rId2"/>
          <a:stretch>
            <a:fillRect/>
          </a:stretch>
        </p:blipFill>
        <p:spPr>
          <a:xfrm>
            <a:off x="4865739" y="579194"/>
            <a:ext cx="6414505" cy="3010673"/>
          </a:xfrm>
          <a:prstGeom prst="rect">
            <a:avLst/>
          </a:prstGeom>
        </p:spPr>
      </p:pic>
      <p:pic>
        <p:nvPicPr>
          <p:cNvPr id="4" name="Content Placeholder 3">
            <a:extLst>
              <a:ext uri="{FF2B5EF4-FFF2-40B4-BE49-F238E27FC236}">
                <a16:creationId xmlns:a16="http://schemas.microsoft.com/office/drawing/2014/main" id="{04DE37D9-A1C6-732F-370A-B1788E963F8E}"/>
              </a:ext>
            </a:extLst>
          </p:cNvPr>
          <p:cNvPicPr>
            <a:picLocks/>
          </p:cNvPicPr>
          <p:nvPr/>
        </p:nvPicPr>
        <p:blipFill>
          <a:blip r:embed="rId3"/>
          <a:stretch>
            <a:fillRect/>
          </a:stretch>
        </p:blipFill>
        <p:spPr>
          <a:xfrm>
            <a:off x="4907766" y="3916051"/>
            <a:ext cx="3082332" cy="2260877"/>
          </a:xfrm>
          <a:prstGeom prst="rect">
            <a:avLst/>
          </a:prstGeom>
        </p:spPr>
      </p:pic>
      <p:pic>
        <p:nvPicPr>
          <p:cNvPr id="5" name="Picture 4">
            <a:extLst>
              <a:ext uri="{FF2B5EF4-FFF2-40B4-BE49-F238E27FC236}">
                <a16:creationId xmlns:a16="http://schemas.microsoft.com/office/drawing/2014/main" id="{861462F3-9113-9112-4633-C2912B1367F5}"/>
              </a:ext>
            </a:extLst>
          </p:cNvPr>
          <p:cNvPicPr/>
          <p:nvPr/>
        </p:nvPicPr>
        <p:blipFill>
          <a:blip r:embed="rId4"/>
          <a:stretch>
            <a:fillRect/>
          </a:stretch>
        </p:blipFill>
        <p:spPr>
          <a:xfrm>
            <a:off x="8298616" y="3916050"/>
            <a:ext cx="2981629" cy="2260878"/>
          </a:xfrm>
          <a:prstGeom prst="rect">
            <a:avLst/>
          </a:prstGeom>
        </p:spPr>
      </p:pic>
    </p:spTree>
    <p:extLst>
      <p:ext uri="{BB962C8B-B14F-4D97-AF65-F5344CB8AC3E}">
        <p14:creationId xmlns:p14="http://schemas.microsoft.com/office/powerpoint/2010/main" val="1810703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569E-9AD8-024F-E8F8-A2EAFF0E41BB}"/>
              </a:ext>
            </a:extLst>
          </p:cNvPr>
          <p:cNvSpPr>
            <a:spLocks noGrp="1"/>
          </p:cNvSpPr>
          <p:nvPr>
            <p:ph type="title"/>
          </p:nvPr>
        </p:nvSpPr>
        <p:spPr>
          <a:xfrm>
            <a:off x="666697" y="2150906"/>
            <a:ext cx="3729076" cy="1320800"/>
          </a:xfrm>
        </p:spPr>
        <p:txBody>
          <a:bodyPr anchor="ctr">
            <a:normAutofit/>
          </a:bodyPr>
          <a:lstStyle/>
          <a:p>
            <a:r>
              <a:rPr lang="en-US" dirty="0">
                <a:latin typeface="Times New Roman" panose="02020603050405020304" pitchFamily="18" charset="0"/>
                <a:cs typeface="Times New Roman" panose="02020603050405020304" pitchFamily="18" charset="0"/>
              </a:rPr>
              <a:t>OUTPUT SCREEN</a:t>
            </a:r>
            <a:endParaRPr lang="en-IN"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67CC777E-3777-39A1-A5F3-A2EDF0A8E0A0}"/>
              </a:ext>
            </a:extLst>
          </p:cNvPr>
          <p:cNvPicPr>
            <a:picLocks/>
          </p:cNvPicPr>
          <p:nvPr/>
        </p:nvPicPr>
        <p:blipFill>
          <a:blip r:embed="rId2"/>
          <a:stretch>
            <a:fillRect/>
          </a:stretch>
        </p:blipFill>
        <p:spPr>
          <a:xfrm>
            <a:off x="4762189" y="401935"/>
            <a:ext cx="6361336" cy="6139542"/>
          </a:xfrm>
          <a:prstGeom prst="rect">
            <a:avLst/>
          </a:prstGeom>
        </p:spPr>
      </p:pic>
    </p:spTree>
    <p:extLst>
      <p:ext uri="{BB962C8B-B14F-4D97-AF65-F5344CB8AC3E}">
        <p14:creationId xmlns:p14="http://schemas.microsoft.com/office/powerpoint/2010/main" val="1084752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888A-0ADB-1724-93D0-F4D321B543A8}"/>
              </a:ext>
            </a:extLst>
          </p:cNvPr>
          <p:cNvSpPr>
            <a:spLocks noGrp="1"/>
          </p:cNvSpPr>
          <p:nvPr>
            <p:ph type="title"/>
          </p:nvPr>
        </p:nvSpPr>
        <p:spPr>
          <a:xfrm>
            <a:off x="2820766" y="648929"/>
            <a:ext cx="4425608" cy="865239"/>
          </a:xfrm>
        </p:spPr>
        <p:txBody>
          <a:bodyPr/>
          <a:lstStyle/>
          <a:p>
            <a:r>
              <a:rPr lang="en-US"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487241-B733-C602-553A-8A0FDDD7A32E}"/>
              </a:ext>
            </a:extLst>
          </p:cNvPr>
          <p:cNvSpPr>
            <a:spLocks noGrp="1" noChangeArrowheads="1"/>
          </p:cNvSpPr>
          <p:nvPr>
            <p:ph idx="1"/>
          </p:nvPr>
        </p:nvSpPr>
        <p:spPr bwMode="auto">
          <a:xfrm>
            <a:off x="677334" y="2136338"/>
            <a:ext cx="871247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personalized career recommendations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AI &amp; NLP for accurate analysis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explainable results for better understanding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skill gaps effectively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Suggests structured learning guidance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detailed career reports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compared to traditional counseling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and easy to use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better career decision-making </a:t>
            </a:r>
          </a:p>
        </p:txBody>
      </p:sp>
    </p:spTree>
    <p:extLst>
      <p:ext uri="{BB962C8B-B14F-4D97-AF65-F5344CB8AC3E}">
        <p14:creationId xmlns:p14="http://schemas.microsoft.com/office/powerpoint/2010/main" val="2016782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B4EC5-1C36-DDB4-2CCB-ED247F071120}"/>
              </a:ext>
            </a:extLst>
          </p:cNvPr>
          <p:cNvSpPr>
            <a:spLocks noGrp="1"/>
          </p:cNvSpPr>
          <p:nvPr>
            <p:ph type="title"/>
          </p:nvPr>
        </p:nvSpPr>
        <p:spPr>
          <a:xfrm>
            <a:off x="3116280" y="648930"/>
            <a:ext cx="3973324" cy="854764"/>
          </a:xfrm>
        </p:spPr>
        <p:txBody>
          <a:bodyPr/>
          <a:lstStyle/>
          <a:p>
            <a:r>
              <a:rPr lang="en-US" dirty="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F2D1E58-C774-B1DF-BF65-2CB8D4FB23B7}"/>
              </a:ext>
            </a:extLst>
          </p:cNvPr>
          <p:cNvSpPr>
            <a:spLocks noGrp="1" noChangeArrowheads="1"/>
          </p:cNvSpPr>
          <p:nvPr>
            <p:ph idx="1"/>
          </p:nvPr>
        </p:nvSpPr>
        <p:spPr bwMode="auto">
          <a:xfrm>
            <a:off x="1680770" y="2274837"/>
            <a:ext cx="88304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Depends on the quality and accuracy of the uploaded resume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to predefined career roles and datasets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recommendations may not always be 100% accurate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stable internet connection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fully replace human career counseling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understanding of soft skills and personal interests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depends on the training data used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setup and data collection required </a:t>
            </a:r>
          </a:p>
        </p:txBody>
      </p:sp>
    </p:spTree>
    <p:extLst>
      <p:ext uri="{BB962C8B-B14F-4D97-AF65-F5344CB8AC3E}">
        <p14:creationId xmlns:p14="http://schemas.microsoft.com/office/powerpoint/2010/main" val="80765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3A51-4452-1A62-6B9E-E8B4DE98DB72}"/>
              </a:ext>
            </a:extLst>
          </p:cNvPr>
          <p:cNvSpPr>
            <a:spLocks noGrp="1"/>
          </p:cNvSpPr>
          <p:nvPr>
            <p:ph type="title"/>
          </p:nvPr>
        </p:nvSpPr>
        <p:spPr>
          <a:xfrm>
            <a:off x="2826773" y="629265"/>
            <a:ext cx="4297789" cy="1032387"/>
          </a:xfrm>
        </p:spPr>
        <p:txBody>
          <a:bodyPr/>
          <a:lstStyle/>
          <a:p>
            <a:r>
              <a:rPr lang="en-IN" dirty="0">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DBAFEF2F-0D2E-1758-2F20-54CD6E9C1489}"/>
              </a:ext>
            </a:extLst>
          </p:cNvPr>
          <p:cNvSpPr>
            <a:spLocks noGrp="1" noChangeArrowheads="1"/>
          </p:cNvSpPr>
          <p:nvPr>
            <p:ph idx="1"/>
          </p:nvPr>
        </p:nvSpPr>
        <p:spPr bwMode="auto">
          <a:xfrm>
            <a:off x="1340697" y="1994780"/>
            <a:ext cx="726993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buClrTx/>
              <a:buSzTx/>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real-time job market data for updated recommendations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 mobile application for easy accessibility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online learning platforms APIs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support for wider user reach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dirty="0">
                <a:latin typeface="Times New Roman" panose="02020603050405020304" pitchFamily="18" charset="0"/>
                <a:cs typeface="Times New Roman" panose="02020603050405020304" pitchFamily="18" charset="0"/>
              </a:rPr>
              <a:t>Continuous system improvement based on user feedback</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2231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50D58-9E86-25CE-1709-3B01AD40FEA7}"/>
              </a:ext>
            </a:extLst>
          </p:cNvPr>
          <p:cNvSpPr>
            <a:spLocks noGrp="1"/>
          </p:cNvSpPr>
          <p:nvPr>
            <p:ph type="title"/>
          </p:nvPr>
        </p:nvSpPr>
        <p:spPr>
          <a:xfrm>
            <a:off x="2915264" y="816638"/>
            <a:ext cx="4120808" cy="1032387"/>
          </a:xfrm>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9DB237-D4A0-5A55-E253-AD4A8E4DC84D}"/>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AI-Powered Career Guidance &amp; Recommendation System</a:t>
            </a:r>
            <a:r>
              <a:rPr lang="en-US" dirty="0">
                <a:latin typeface="Times New Roman" panose="02020603050405020304" pitchFamily="18" charset="0"/>
                <a:cs typeface="Times New Roman" panose="02020603050405020304" pitchFamily="18" charset="0"/>
              </a:rPr>
              <a:t> provides an effective and intelligent solution for helping students make informed career decisions. By leveraging AI and NLP techniques, the system analyzes user profiles, recommends suitable career paths, and identifies skill gaps. It also offers structured learning guidance and tracks progress, enabling students to improve their career readiness over time.</a:t>
            </a:r>
          </a:p>
          <a:p>
            <a:pPr marL="0" indent="0" algn="just">
              <a:buNone/>
            </a:pPr>
            <a:r>
              <a:rPr lang="en-US" dirty="0">
                <a:latin typeface="Times New Roman" panose="02020603050405020304" pitchFamily="18" charset="0"/>
                <a:cs typeface="Times New Roman" panose="02020603050405020304" pitchFamily="18" charset="0"/>
              </a:rPr>
              <a:t>Overall, the system simplifies the career planning process, reduces confusion, and empowers students to choose the right path based on their strengths and abilities. It serves as a valuable tool for enhancing employability and supporting modern education systems.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144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215" name="Group 7214">
            <a:extLst>
              <a:ext uri="{FF2B5EF4-FFF2-40B4-BE49-F238E27FC236}">
                <a16:creationId xmlns:a16="http://schemas.microsoft.com/office/drawing/2014/main" id="{6CE6E43D-FC44-4F15-89C6-7C08E9BDC3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216" name="Straight Connector 7215">
              <a:extLst>
                <a:ext uri="{FF2B5EF4-FFF2-40B4-BE49-F238E27FC236}">
                  <a16:creationId xmlns:a16="http://schemas.microsoft.com/office/drawing/2014/main" id="{321115E6-3640-4179-A252-686A27B75B3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7217" name="Straight Connector 7216">
              <a:extLst>
                <a:ext uri="{FF2B5EF4-FFF2-40B4-BE49-F238E27FC236}">
                  <a16:creationId xmlns:a16="http://schemas.microsoft.com/office/drawing/2014/main" id="{E68D2ABE-CDFA-4BEB-AF45-E43862265B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218" name="Rectangle 23">
              <a:extLst>
                <a:ext uri="{FF2B5EF4-FFF2-40B4-BE49-F238E27FC236}">
                  <a16:creationId xmlns:a16="http://schemas.microsoft.com/office/drawing/2014/main" id="{A108FB8B-558B-4F9E-970F-72D2EE57F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19" name="Rectangle 25">
              <a:extLst>
                <a:ext uri="{FF2B5EF4-FFF2-40B4-BE49-F238E27FC236}">
                  <a16:creationId xmlns:a16="http://schemas.microsoft.com/office/drawing/2014/main" id="{481E92F1-5BD2-4422-B875-90578CEAA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0" name="Isosceles Triangle 7219">
              <a:extLst>
                <a:ext uri="{FF2B5EF4-FFF2-40B4-BE49-F238E27FC236}">
                  <a16:creationId xmlns:a16="http://schemas.microsoft.com/office/drawing/2014/main" id="{9D9630F3-9488-4F58-9098-F6B8552BD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1" name="Rectangle 27">
              <a:extLst>
                <a:ext uri="{FF2B5EF4-FFF2-40B4-BE49-F238E27FC236}">
                  <a16:creationId xmlns:a16="http://schemas.microsoft.com/office/drawing/2014/main" id="{A82B105D-E7A6-4F3A-AFDA-B9133F6BD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2" name="Rectangle 28">
              <a:extLst>
                <a:ext uri="{FF2B5EF4-FFF2-40B4-BE49-F238E27FC236}">
                  <a16:creationId xmlns:a16="http://schemas.microsoft.com/office/drawing/2014/main" id="{592262AB-546B-41A7-99DE-EC034F072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3" name="Rectangle 29">
              <a:extLst>
                <a:ext uri="{FF2B5EF4-FFF2-40B4-BE49-F238E27FC236}">
                  <a16:creationId xmlns:a16="http://schemas.microsoft.com/office/drawing/2014/main" id="{D878A1F7-F404-41A0-BD7C-9739499BD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4" name="Isosceles Triangle 7223">
              <a:extLst>
                <a:ext uri="{FF2B5EF4-FFF2-40B4-BE49-F238E27FC236}">
                  <a16:creationId xmlns:a16="http://schemas.microsoft.com/office/drawing/2014/main" id="{0076BF32-29FF-4C3A-B1AF-91A28EFD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25" name="Isosceles Triangle 7224">
              <a:extLst>
                <a:ext uri="{FF2B5EF4-FFF2-40B4-BE49-F238E27FC236}">
                  <a16:creationId xmlns:a16="http://schemas.microsoft.com/office/drawing/2014/main" id="{0A4C29F3-B3A2-40B9-8670-ADA39B0C4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7227" name="Rectangle 7226">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29" name="Group 7228">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230" name="Straight Connector 7229">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231"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2"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3" name="Isosceles Triangle 7232">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4"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5"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6"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7" name="Isosceles Triangle 7236">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38" name="Isosceles Triangle 7237">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7240" name="Rectangle 7239">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a:extLst>
              <a:ext uri="{FF2B5EF4-FFF2-40B4-BE49-F238E27FC236}">
                <a16:creationId xmlns:a16="http://schemas.microsoft.com/office/drawing/2014/main" id="{0D7F640F-4911-F938-6E56-EE1F7CD553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5199" r="1" b="7355"/>
          <a:stretch>
            <a:fillRect/>
          </a:stretch>
        </p:blipFill>
        <p:spPr bwMode="auto">
          <a:xfrm>
            <a:off x="568452" y="571500"/>
            <a:ext cx="11055096"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065932"/>
      </p:ext>
    </p:extLst>
  </p:cSld>
  <p:clrMapOvr>
    <a:masterClrMapping/>
  </p:clrMapOvr>
</p:sld>
</file>

<file path=ppt/theme/theme1.xml><?xml version="1.0" encoding="utf-8"?>
<a:theme xmlns:a="http://schemas.openxmlformats.org/drawingml/2006/main" name="Facet">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98</TotalTime>
  <Words>1541</Words>
  <Application>Microsoft Office PowerPoint</Application>
  <PresentationFormat>Widescreen</PresentationFormat>
  <Paragraphs>119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Times New Roman</vt:lpstr>
      <vt:lpstr>Trebuchet MS</vt:lpstr>
      <vt:lpstr>Wingdings</vt:lpstr>
      <vt:lpstr>Wingdings 3</vt:lpstr>
      <vt:lpstr>Facet</vt:lpstr>
      <vt:lpstr>AI-Powered Career Guidance &amp; Recommendation System </vt:lpstr>
      <vt:lpstr>INTRODUCTION</vt:lpstr>
      <vt:lpstr>PROBLEM STATEMENT</vt:lpstr>
      <vt:lpstr>OBJECTIVES</vt:lpstr>
      <vt:lpstr>EXISTING SYSTEM</vt:lpstr>
      <vt:lpstr>PROPSED SYSTEM</vt:lpstr>
      <vt:lpstr>SYSTEM ARCHITECTURE</vt:lpstr>
      <vt:lpstr>DESIGN METHODOLOGY</vt:lpstr>
      <vt:lpstr>TECHNOLOGIES USED</vt:lpstr>
      <vt:lpstr>FRONTEND&amp;BACKEND</vt:lpstr>
      <vt:lpstr>SOFTWARE</vt:lpstr>
      <vt:lpstr>HARDWARE</vt:lpstr>
      <vt:lpstr>FLOW  CHART</vt:lpstr>
      <vt:lpstr>OUTPUT SCREENS</vt:lpstr>
      <vt:lpstr>OUTPUT SCREEN</vt:lpstr>
      <vt:lpstr>ADVANTAGES</vt:lpstr>
      <vt:lpstr>LIMITATIONS</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jani</dc:creator>
  <cp:lastModifiedBy>bindu sri</cp:lastModifiedBy>
  <cp:revision>5</cp:revision>
  <dcterms:created xsi:type="dcterms:W3CDTF">2026-04-17T14:16:02Z</dcterms:created>
  <dcterms:modified xsi:type="dcterms:W3CDTF">2026-04-17T23:56:56Z</dcterms:modified>
</cp:coreProperties>
</file>